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GenAI-Powered Customer Feedback Insights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Customer Feedback Analysis &amp;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/>
            </a:pPr>
            <a:r>
              <a:t>Business problem: turn large volumes of customer reviews into fast, consistent and actionable insights.</a:t>
            </a:r>
          </a:p>
          <a:p>
            <a:pPr>
              <a:spcAft>
                <a:spcPts val="700"/>
              </a:spcAft>
              <a:defRPr sz="2200"/>
            </a:pPr>
            <a:r>
              <a:t>Scope: Amazon and Yelp review datasets.</a:t>
            </a:r>
          </a:p>
          <a:p>
            <a:pPr>
              <a:spcAft>
                <a:spcPts val="700"/>
              </a:spcAft>
              <a:defRPr sz="2200"/>
            </a:pPr>
            <a:r>
              <a:t>Goal: identify pain points, positive themes, priorities and practical business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Analysis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2461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2,000</a:t>
            </a:r>
          </a:p>
          <a:p>
            <a:pPr algn="ctr">
              <a:defRPr sz="1200"/>
            </a:pPr>
            <a:r>
              <a:t>Original reviews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461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14</a:t>
            </a:r>
          </a:p>
          <a:p>
            <a:pPr algn="ctr">
              <a:defRPr sz="1200"/>
            </a:pPr>
            <a:r>
              <a:t>Duplicates removed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320" y="1417320"/>
            <a:ext cx="32461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1,986</a:t>
            </a:r>
          </a:p>
          <a:p>
            <a:pPr algn="ctr">
              <a:defRPr sz="1200"/>
            </a:pPr>
            <a:r>
              <a:t>Final unique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32461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992</a:t>
            </a:r>
          </a:p>
          <a:p>
            <a:pPr algn="ctr">
              <a:defRPr sz="1200"/>
            </a:pPr>
            <a:r>
              <a:t>Positive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834640"/>
            <a:ext cx="32461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994</a:t>
            </a:r>
          </a:p>
          <a:p>
            <a:pPr algn="ctr">
              <a:defRPr sz="1200"/>
            </a:pPr>
            <a:r>
              <a:t>Negative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834640"/>
            <a:ext cx="32461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</a:t>
            </a:r>
          </a:p>
          <a:p>
            <a:pPr algn="ctr">
              <a:defRPr sz="1200"/>
            </a:pPr>
            <a:r>
              <a:t>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Amazon: 990 final reviews (493 positive, 497 negative)</a:t>
            </a:r>
          </a:p>
          <a:p>
            <a:pPr>
              <a:spcAft>
                <a:spcPts val="700"/>
              </a:spcAft>
              <a:defRPr sz="1600"/>
            </a:pPr>
            <a:r>
              <a:t>Yelp: 996 final reviews (499 positive, 497 negative)</a:t>
            </a:r>
          </a:p>
          <a:p>
            <a:pPr>
              <a:spcAft>
                <a:spcPts val="700"/>
              </a:spcAft>
              <a:defRPr sz="1600"/>
            </a:pPr>
            <a:r>
              <a:t>Cleaning: exact duplicates removed; no missing values remained.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GenAI Workflow / Prototype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286000"/>
            <a:ext cx="1554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Customer</a:t>
            </a:r>
            <a:br/>
            <a:r>
              <a:t>Reviews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75688" y="2633472"/>
            <a:ext cx="292608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3160" y="2286000"/>
            <a:ext cx="1554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Clean &amp;</a:t>
            </a:r>
            <a:br/>
            <a:r>
              <a:t>Validate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95928" y="2633472"/>
            <a:ext cx="292608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2286000"/>
            <a:ext cx="1554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Sentiment &amp;</a:t>
            </a:r>
            <a:br/>
            <a:r>
              <a:t>Source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16168" y="2633472"/>
            <a:ext cx="292608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1554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GenAI</a:t>
            </a:r>
            <a:br/>
            <a:r>
              <a:t>Prompts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36408" y="2633472"/>
            <a:ext cx="292608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80" y="2286000"/>
            <a:ext cx="1554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Themes &amp;</a:t>
            </a:r>
            <a:br/>
            <a:r>
              <a:t>Root Causes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56648" y="2633472"/>
            <a:ext cx="292608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04120" y="2286000"/>
            <a:ext cx="1554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Prioritize &amp;</a:t>
            </a:r>
            <a:br/>
            <a:r>
              <a:t>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Python/Pandas prepare and validate review batches.</a:t>
            </a:r>
          </a:p>
          <a:p>
            <a:pPr>
              <a:spcAft>
                <a:spcPts val="700"/>
              </a:spcAft>
              <a:defRPr sz="1600"/>
            </a:pPr>
            <a:r>
              <a:t>Reusable GenAI prompts support summarization, theme extraction, sentiment explanation, root-cause analysis and recommendations.</a:t>
            </a:r>
          </a:p>
          <a:p>
            <a:pPr>
              <a:spcAft>
                <a:spcPts val="700"/>
              </a:spcAft>
              <a:defRPr sz="1600"/>
            </a:pPr>
            <a:r>
              <a:t>Human validation checks evidence and separates facts from inference.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Prompt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Feedback summarization — Summarize review batches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Theme extraction — Identify recurring pain points and praise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Sentiment explanation — Explain why feedback is positive/negative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Root-cause analysis — Separate evidence from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Recommendation generation — Convert findings into practical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Executive summary — Create stakeholder-ready business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Notebook contains 9 reusable prompts covering the required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Customer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AMAZON — NEGATIVE</a:t>
            </a:r>
          </a:p>
          <a:p>
            <a:pPr>
              <a:spcAft>
                <a:spcPts val="700"/>
              </a:spcAft>
              <a:defRPr sz="1600"/>
            </a:pPr>
            <a:r>
              <a:t>• Usability/fit</a:t>
            </a:r>
          </a:p>
          <a:p>
            <a:pPr>
              <a:spcAft>
                <a:spcPts val="700"/>
              </a:spcAft>
              <a:defRPr sz="1600"/>
            </a:pPr>
            <a:r>
              <a:t>• Audio &amp; call quality</a:t>
            </a:r>
          </a:p>
          <a:p>
            <a:pPr>
              <a:spcAft>
                <a:spcPts val="700"/>
              </a:spcAft>
              <a:defRPr sz="1600"/>
            </a:pPr>
            <a:r>
              <a:t>• Battery/charging</a:t>
            </a:r>
          </a:p>
          <a:p>
            <a:pPr>
              <a:spcAft>
                <a:spcPts val="700"/>
              </a:spcAft>
              <a:defRPr sz="1600"/>
            </a:pPr>
            <a:r>
              <a:t>• Reliability/durability</a:t>
            </a:r>
          </a:p>
          <a:p>
            <a:pPr>
              <a:spcAft>
                <a:spcPts val="700"/>
              </a:spcAft>
              <a:defRPr sz="1600"/>
            </a:pPr>
            <a:r>
              <a:t>• Value</a:t>
            </a:r>
          </a:p>
          <a:p>
            <a:pPr>
              <a:spcAft>
                <a:spcPts val="700"/>
              </a:spcAft>
              <a:defRPr sz="1600"/>
            </a:pPr>
            <a:r>
              <a:t>AMAZON — POSITIVE</a:t>
            </a:r>
          </a:p>
          <a:p>
            <a:pPr>
              <a:spcAft>
                <a:spcPts val="700"/>
              </a:spcAft>
              <a:defRPr sz="1600"/>
            </a:pPr>
            <a:r>
              <a:t>• Product performance</a:t>
            </a:r>
          </a:p>
          <a:p>
            <a:pPr>
              <a:spcAft>
                <a:spcPts val="700"/>
              </a:spcAft>
              <a:defRPr sz="1600"/>
            </a:pPr>
            <a:r>
              <a:t>• Audio quality</a:t>
            </a:r>
          </a:p>
          <a:p>
            <a:pPr>
              <a:spcAft>
                <a:spcPts val="700"/>
              </a:spcAft>
              <a:defRPr sz="1600"/>
            </a:pPr>
            <a:r>
              <a:t>• Battery</a:t>
            </a:r>
          </a:p>
          <a:p>
            <a:pPr>
              <a:spcAft>
                <a:spcPts val="700"/>
              </a:spcAft>
              <a:defRPr sz="1600"/>
            </a:pPr>
            <a:r>
              <a:t>• Compatibility</a:t>
            </a:r>
          </a:p>
          <a:p>
            <a:pPr>
              <a:spcAft>
                <a:spcPts val="700"/>
              </a:spcAft>
              <a:defRPr sz="1600"/>
            </a:pPr>
            <a:r>
              <a:t>•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344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YELP — NEGATIVE</a:t>
            </a:r>
          </a:p>
          <a:p>
            <a:pPr>
              <a:spcAft>
                <a:spcPts val="700"/>
              </a:spcAft>
              <a:defRPr sz="1600"/>
            </a:pPr>
            <a:r>
              <a:t>• Food quality</a:t>
            </a:r>
          </a:p>
          <a:p>
            <a:pPr>
              <a:spcAft>
                <a:spcPts val="700"/>
              </a:spcAft>
              <a:defRPr sz="1600"/>
            </a:pPr>
            <a:r>
              <a:t>• Service/staff</a:t>
            </a:r>
          </a:p>
          <a:p>
            <a:pPr>
              <a:spcAft>
                <a:spcPts val="700"/>
              </a:spcAft>
              <a:defRPr sz="1600"/>
            </a:pPr>
            <a:r>
              <a:t>• Waiting time</a:t>
            </a:r>
          </a:p>
          <a:p>
            <a:pPr>
              <a:spcAft>
                <a:spcPts val="700"/>
              </a:spcAft>
              <a:defRPr sz="1600"/>
            </a:pPr>
            <a:r>
              <a:t>• Value</a:t>
            </a:r>
          </a:p>
          <a:p>
            <a:pPr>
              <a:spcAft>
                <a:spcPts val="700"/>
              </a:spcAft>
              <a:defRPr sz="1600"/>
            </a:pPr>
            <a:r>
              <a:t>• Overall experience</a:t>
            </a:r>
          </a:p>
          <a:p>
            <a:pPr>
              <a:spcAft>
                <a:spcPts val="700"/>
              </a:spcAft>
              <a:defRPr sz="1600"/>
            </a:pPr>
            <a:r>
              <a:t>YELP — POSITIVE</a:t>
            </a:r>
          </a:p>
          <a:p>
            <a:pPr>
              <a:spcAft>
                <a:spcPts val="700"/>
              </a:spcAft>
              <a:defRPr sz="1600"/>
            </a:pPr>
            <a:r>
              <a:t>• Food quality</a:t>
            </a:r>
          </a:p>
          <a:p>
            <a:pPr>
              <a:spcAft>
                <a:spcPts val="700"/>
              </a:spcAft>
              <a:defRPr sz="1600"/>
            </a:pPr>
            <a:r>
              <a:t>• Service</a:t>
            </a:r>
          </a:p>
          <a:p>
            <a:pPr>
              <a:spcAft>
                <a:spcPts val="700"/>
              </a:spcAft>
              <a:defRPr sz="1600"/>
            </a:pPr>
            <a:r>
              <a:t>• Atmosphere</a:t>
            </a:r>
          </a:p>
          <a:p>
            <a:pPr>
              <a:spcAft>
                <a:spcPts val="700"/>
              </a:spcAft>
              <a:defRPr sz="1600"/>
            </a:pPr>
            <a:r>
              <a:t>• Value</a:t>
            </a:r>
          </a:p>
          <a:p>
            <a:pPr>
              <a:spcAft>
                <a:spcPts val="700"/>
              </a:spcAft>
              <a:defRPr sz="1600"/>
            </a:pPr>
            <a:r>
              <a:t>• Menu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Cross-source insight: Amazon feedback is primarily product-oriented; Yelp feedback is primarily experience-oriented.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Business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AMAZON</a:t>
            </a:r>
          </a:p>
          <a:p>
            <a:pPr>
              <a:spcAft>
                <a:spcPts val="700"/>
              </a:spcAft>
              <a:defRPr sz="1600"/>
            </a:pPr>
            <a:r>
              <a:t>1. Improve product usability and fit.</a:t>
            </a:r>
          </a:p>
          <a:p>
            <a:pPr>
              <a:spcAft>
                <a:spcPts val="700"/>
              </a:spcAft>
              <a:defRPr sz="1600"/>
            </a:pPr>
            <a:r>
              <a:t>2. Strengthen audio/call reliability.</a:t>
            </a:r>
          </a:p>
          <a:p>
            <a:pPr>
              <a:spcAft>
                <a:spcPts val="700"/>
              </a:spcAft>
              <a:defRPr sz="1600"/>
            </a:pPr>
            <a:r>
              <a:t>3. Improve battery and charging performance.</a:t>
            </a:r>
          </a:p>
          <a:p>
            <a:pPr>
              <a:spcAft>
                <a:spcPts val="700"/>
              </a:spcAft>
              <a:defRPr sz="1600"/>
            </a:pPr>
            <a:r>
              <a:t>4. Strengthen durability and quality-control testing.</a:t>
            </a:r>
          </a:p>
          <a:p>
            <a:pPr>
              <a:spcAft>
                <a:spcPts val="700"/>
              </a:spcAft>
              <a:defRPr sz="1600"/>
            </a:pPr>
            <a:r>
              <a:t>5. Align product value with customer expectations.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YELP</a:t>
            </a:r>
          </a:p>
          <a:p>
            <a:pPr>
              <a:spcAft>
                <a:spcPts val="700"/>
              </a:spcAft>
              <a:defRPr sz="1600"/>
            </a:pPr>
            <a:r>
              <a:t>1. Improve food quality and consistency.</a:t>
            </a:r>
          </a:p>
          <a:p>
            <a:pPr>
              <a:spcAft>
                <a:spcPts val="700"/>
              </a:spcAft>
              <a:defRPr sz="1600"/>
            </a:pPr>
            <a:r>
              <a:t>2. Strengthen service and staff training.</a:t>
            </a:r>
          </a:p>
          <a:p>
            <a:pPr>
              <a:spcAft>
                <a:spcPts val="700"/>
              </a:spcAft>
              <a:defRPr sz="1600"/>
            </a:pPr>
            <a:r>
              <a:t>3. Reduce waiting times through workflow/staffing review.</a:t>
            </a:r>
          </a:p>
          <a:p>
            <a:pPr>
              <a:spcAft>
                <a:spcPts val="700"/>
              </a:spcAft>
              <a:defRPr sz="1600"/>
            </a:pPr>
            <a:r>
              <a:t>4. Improve perceived value.</a:t>
            </a:r>
          </a:p>
          <a:p>
            <a:pPr>
              <a:spcAft>
                <a:spcPts val="700"/>
              </a:spcAft>
              <a:defRPr sz="1600"/>
            </a:pPr>
            <a:r>
              <a:t>5. Strengthen the complete customer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Validation, Risks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GENAI RISKS</a:t>
            </a:r>
          </a:p>
          <a:p>
            <a:pPr>
              <a:spcAft>
                <a:spcPts val="700"/>
              </a:spcAft>
              <a:defRPr sz="1600"/>
            </a:pPr>
            <a:r>
              <a:t>• Overgeneralization or incorrect theme assignment</a:t>
            </a:r>
          </a:p>
          <a:p>
            <a:pPr>
              <a:spcAft>
                <a:spcPts val="700"/>
              </a:spcAft>
              <a:defRPr sz="1600"/>
            </a:pPr>
            <a:r>
              <a:t>• Unsupported root-cause assumptions</a:t>
            </a:r>
          </a:p>
          <a:p>
            <a:pPr>
              <a:spcAft>
                <a:spcPts val="700"/>
              </a:spcAft>
              <a:defRPr sz="1600"/>
            </a:pPr>
            <a:r>
              <a:t>• False precision in frequencies or business impact</a:t>
            </a:r>
          </a:p>
          <a:p>
            <a:pPr>
              <a:spcAft>
                <a:spcPts val="700"/>
              </a:spcAft>
              <a:defRPr sz="1600"/>
            </a:pPr>
            <a:r>
              <a:t>• Individual reviews may belong to multiple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VALIDATION</a:t>
            </a:r>
          </a:p>
          <a:p>
            <a:pPr>
              <a:spcAft>
                <a:spcPts val="700"/>
              </a:spcAft>
              <a:defRPr sz="1600"/>
            </a:pPr>
            <a:r>
              <a:t>• Reviewed actual review examples</a:t>
            </a:r>
          </a:p>
          <a:p>
            <a:pPr>
              <a:spcAft>
                <a:spcPts val="700"/>
              </a:spcAft>
              <a:defRPr sz="1600"/>
            </a:pPr>
            <a:r>
              <a:t>• Used original sentiment labels</a:t>
            </a:r>
          </a:p>
          <a:p>
            <a:pPr>
              <a:spcAft>
                <a:spcPts val="700"/>
              </a:spcAft>
              <a:defRPr sz="1600"/>
            </a:pPr>
            <a:r>
              <a:t>• Removed duplicate records</a:t>
            </a:r>
          </a:p>
          <a:p>
            <a:pPr>
              <a:spcAft>
                <a:spcPts val="700"/>
              </a:spcAft>
              <a:defRPr sz="1600"/>
            </a:pPr>
            <a:r>
              <a:t>• Separated Amazon and Yelp contexts</a:t>
            </a:r>
          </a:p>
          <a:p>
            <a:pPr>
              <a:spcAft>
                <a:spcPts val="700"/>
              </a:spcAft>
              <a:defRPr sz="1600"/>
            </a:pPr>
            <a:r>
              <a:t>• Distinguished evidence from inference</a:t>
            </a:r>
          </a:p>
          <a:p>
            <a:pPr>
              <a:spcAft>
                <a:spcPts val="700"/>
              </a:spcAft>
              <a:defRPr sz="1600"/>
            </a:pPr>
            <a:r>
              <a:t>• Recommended validation with operational/financial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Key takeaway: GenAI can transform unstructured customer feedback into structured themes and actionable recommendations.</a:t>
            </a:r>
          </a:p>
          <a:p>
            <a:pPr>
              <a:spcAft>
                <a:spcPts val="700"/>
              </a:spcAft>
              <a:defRPr sz="1900"/>
            </a:pPr>
            <a:r>
              <a:t>Next: automate future feedback batches using the reusable prompt workflow.</a:t>
            </a:r>
          </a:p>
          <a:p>
            <a:pPr>
              <a:spcAft>
                <a:spcPts val="700"/>
              </a:spcAft>
              <a:defRPr sz="1900"/>
            </a:pPr>
            <a:r>
              <a:t>Validate themes against operational and financial data.</a:t>
            </a:r>
          </a:p>
          <a:p>
            <a:pPr>
              <a:spcAft>
                <a:spcPts val="700"/>
              </a:spcAft>
              <a:defRPr sz="1900"/>
            </a:pPr>
            <a:r>
              <a:t>Track complaint trends and measure whether actions improve customer satisfaction.</a:t>
            </a:r>
          </a:p>
          <a:p>
            <a:pPr>
              <a:spcAft>
                <a:spcPts val="700"/>
              </a:spcAft>
              <a:defRPr sz="1900"/>
            </a:pPr>
            <a:r>
              <a:t>Use the workflow as a repeatable customer-feedback analysis assistant.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t>GitHub: github.com/aeupsc-png/GenAI-Customer-Feedback-Insights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GenAI-Powered Customer Feedback Insights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